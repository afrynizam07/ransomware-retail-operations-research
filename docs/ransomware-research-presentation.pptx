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3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65"/>
            <a:ext cx="12188952" cy="6858000"/>
          </a:xfrm>
          <a:prstGeom prst="rect">
            <a:avLst/>
          </a:prstGeom>
          <a:solidFill>
            <a:srgbClr val="121A3E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7513071" y="457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30480" y="3163645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94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90" dirty="0">
                <a:solidFill>
                  <a:srgbClr val="12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89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COMPUTING RESEARCH PROJECT - II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Investigation of the Effects of Ransomware Attacks on Retail Business Operations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4709160"/>
            <a:ext cx="201168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  </a:t>
            </a:r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Afry </a:t>
            </a:r>
            <a:r>
              <a:rPr lang="en-US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Nizam 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HND in Computing  •  ANC Education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C150C5-E5C5-4F0A-8C13-26E4E4E0C5D9}"/>
              </a:ext>
            </a:extLst>
          </p:cNvPr>
          <p:cNvSpPr txBox="1"/>
          <p:nvPr/>
        </p:nvSpPr>
        <p:spPr>
          <a:xfrm>
            <a:off x="659264" y="1371600"/>
            <a:ext cx="88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CRP 2</a:t>
            </a:r>
            <a:endParaRPr lang="en-GB" sz="1600" b="1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 is a growing cybersecurity threat.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3720" y="1554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Retail businesses depend heavily on digital systems.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5146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Attacks can disrupt daily business operations.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25146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Sales and customer services may be affected.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💷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Financial and operational losses may occur.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02920" cy="502920"/>
          </a:xfrm>
          <a:prstGeom prst="ellipse">
            <a:avLst/>
          </a:prstGeom>
          <a:solidFill>
            <a:srgbClr val="F5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34747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 trust may also be affected.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3" name="Text 21"/>
          <p:cNvSpPr/>
          <p:nvPr/>
        </p:nvSpPr>
        <p:spPr>
          <a:xfrm>
            <a:off x="868680" y="48234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organisations need stronger cybersecurity and recovery strategies.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869680" y="486460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(NCSC, 2025; Sophos, 2025)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investigate the effects of ransomware attacks on retail business operations and examine how cybersecurity strategies can reduce operational risks.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5387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0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6393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4357116"/>
            <a:ext cx="302666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ransomware risk factors, awareness, training and vulnerability in retail.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06824" y="3383280"/>
            <a:ext cx="35387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0B4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3" name="Shape 11"/>
          <p:cNvSpPr/>
          <p:nvPr/>
        </p:nvSpPr>
        <p:spPr>
          <a:xfrm>
            <a:off x="4581144" y="36393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4357116"/>
            <a:ext cx="295853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GB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effects of ransomware on daily retail business operations.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65008" y="3383280"/>
            <a:ext cx="353872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0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36393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343400"/>
            <a:ext cx="302666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GB" sz="1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cybersecurity strategies for reducing ransomware risks and improving recovery.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&amp; Conceptual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77492" y="2134352"/>
            <a:ext cx="5052509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762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77491" y="3380904"/>
            <a:ext cx="5052510" cy="873431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9050">
            <a:solidFill>
              <a:srgbClr val="3D4E9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6377490" y="4617720"/>
            <a:ext cx="5052510" cy="868680"/>
          </a:xfrm>
          <a:prstGeom prst="roundRect">
            <a:avLst>
              <a:gd name="adj" fmla="val 8421"/>
            </a:avLst>
          </a:prstGeom>
          <a:solidFill>
            <a:srgbClr val="F5F7F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687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= Independent Variable    MV = Mediating Variable    DV = Dependent Variable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&amp; VARIABLES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103120"/>
            <a:ext cx="894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H1/IV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Ransomware-related factors have a significant relationship with retail business operations.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2239" y="3337560"/>
            <a:ext cx="8139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H2/MV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36576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Ransomware-related factors have a significant relationship with cybersecurity strategies.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92240" y="4572000"/>
            <a:ext cx="813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H3/DV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Cybersecurity strategies have a significant relationship with retail business operations.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43CC926-B66A-449C-86D2-9CA999B63A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" y="2103120"/>
            <a:ext cx="4729779" cy="32826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288254"/>
              </p:ext>
            </p:extLst>
          </p:nvPr>
        </p:nvGraphicFramePr>
        <p:xfrm>
          <a:off x="548640" y="1600200"/>
          <a:ext cx="667512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Finding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Ransomware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disrupt business operations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downtime can affect sales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Service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quality can be reduced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Impact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Recovery can create additional costs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Cybersecurity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controls can improve resilience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Recovery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backups support business recovery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SOURCES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7543800" y="20116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26680" y="23042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 can create significant operational disruption (NCSC, 2025).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543800" y="33832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26680" y="36758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Retail remains an important ransomware target (Sophos, 2025).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43800" y="47548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❝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26680" y="50474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is an important part of cybersecurity risk management (NIST, 2024).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3400" y="4983480"/>
            <a:ext cx="67549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is not only an IT problem – it’s a business continuity problem.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8F398E35-311F-4649-84AC-C5BA2A34E6F6}"/>
              </a:ext>
            </a:extLst>
          </p:cNvPr>
          <p:cNvSpPr/>
          <p:nvPr/>
        </p:nvSpPr>
        <p:spPr>
          <a:xfrm>
            <a:off x="5166360" y="4754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(Saunders, Lewis and Thornhill, 2019)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RESEARCH MAINLY FOCUSES 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Cybersecurity threats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Technical ransomware protection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1729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General business impacts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5577840" cy="20574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GB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connects </a:t>
            </a:r>
            <a:r>
              <a:rPr lang="en-GB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ransomware risks, cybersecurity strategies, and retail business operations</a:t>
            </a:r>
            <a:r>
              <a:rPr lang="en-GB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especially from the </a:t>
            </a:r>
            <a:r>
              <a:rPr lang="en-GB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stakeholders perspectives</a:t>
            </a:r>
            <a:r>
              <a:rPr lang="en-GB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ADDRESSES THE GAP BY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2139696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1389888" y="4526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888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50749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Collecting primary data from respondents.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98064" y="4343400"/>
            <a:ext cx="2139696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639312" y="4526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3931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907792" y="50749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Measuring perceptions of ransomware impacts.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47488" y="4343400"/>
            <a:ext cx="2139696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888736" y="4526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888736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57216" y="50749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Analysing relationships between variables.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96912" y="4343400"/>
            <a:ext cx="2139696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0" y="4526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06640" y="50749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Examining cybersecurity strategies.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546336" y="4343400"/>
            <a:ext cx="2139696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87584" y="45262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387584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56064" y="507492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Providing practical recommendations.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8196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Positivism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6002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11880" y="18196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585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4780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2585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247802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136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91693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313639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Forms questionnaire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respondents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57530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37947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SPSS Statistics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58521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Descriptive statistics  •  Reliability analysis  •  Pearson correlation  •  Regression analysis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675120" y="1600200"/>
            <a:ext cx="4873752" cy="4415117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828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METHODS?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2377440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25856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Easy to collect structured data.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95160" y="303580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291693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Suitable for measuring relationships.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160" y="3694176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35753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Allows statistical analysis.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160" y="4352544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7269480" y="4233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Low-cost and accessible.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95160" y="5010912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7269480" y="4892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Suitable for the available project time.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481959"/>
              </p:ext>
            </p:extLst>
          </p:nvPr>
        </p:nvGraphicFramePr>
        <p:xfrm>
          <a:off x="548640" y="1645920"/>
          <a:ext cx="64008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Hypothesis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0.945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Rejected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= 0.588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6394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Rejected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H3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&lt; 0.001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9D5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Accepted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prove causation.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0" y="1645920"/>
            <a:ext cx="4297680" cy="448056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H3 showed a strong significant relationship: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6"/>
          <p:cNvSpPr/>
          <p:nvPr/>
        </p:nvSpPr>
        <p:spPr>
          <a:xfrm>
            <a:off x="758952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strategies ↔ Retail business operations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3291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0.836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758952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589520" y="4846320"/>
            <a:ext cx="3566160" cy="0"/>
          </a:xfrm>
          <a:prstGeom prst="line">
            <a:avLst/>
          </a:prstGeom>
          <a:noFill/>
          <a:ln w="12700">
            <a:solidFill>
              <a:srgbClr val="3D4E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5029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statistically significant positive relationship.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2761488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2704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Ransomware is an important retail cybersecurity concern.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9397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Respondents recognised several possible operational impacts.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" y="2798064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609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H1 was not statistically significant.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3364992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278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H2 was not statistically significant.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" y="393192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H3 showed a strong significant relationship.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4498848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61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Cybersecurity strategies are important for operational resilience.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" y="5065776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Organisations should improve prevention and recovery.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96596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8272" y="22174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22174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96912" y="1965960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 cybersecurity training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217152" y="196596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1744" y="22174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9381744" y="22174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30384" y="1965960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Multi-factor authentication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3035808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748272" y="32872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748272" y="32872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96912" y="303580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Tested backups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17152" y="3035808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9381744" y="32872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9381744" y="32872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30384" y="3035808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 patching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0" y="4105656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8272" y="43571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43571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96912" y="4105656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Least-privilege access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217152" y="4105656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9381744" y="43571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9381744" y="43571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30384" y="4105656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Incident response planning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583680" y="5175504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6748272" y="542696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6" name="Text 44"/>
          <p:cNvSpPr/>
          <p:nvPr/>
        </p:nvSpPr>
        <p:spPr>
          <a:xfrm>
            <a:off x="6748272" y="54269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96912" y="5175504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Network segmentation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217152" y="5175504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49" name="Shape 47"/>
          <p:cNvSpPr/>
          <p:nvPr/>
        </p:nvSpPr>
        <p:spPr>
          <a:xfrm>
            <a:off x="9381744" y="542696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9381744" y="54269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930384" y="5175504"/>
            <a:ext cx="166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Cyber Security Centre (NCSC) (2025) Ransomware and cybersecurity guidance. Available from: NCSC.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7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Institute of Standards and Technology (NIST) (2024) Cybersecurity Framework 2.0. Gaithersburg: NIST.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9319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Saunders, M., Lewis, P. and Thornhill, A. (2019) Research Methods for Business Students. 8th edn. Harlow: Pearson.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Sophos (2025) The State of Ransomware in Retail 2025. Sophos.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42198" y="5962426"/>
            <a:ext cx="2077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odoni MT Black" panose="02070A03080606020203" pitchFamily="18" charset="0"/>
              </a:rPr>
              <a:t>Thank You!</a:t>
            </a:r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Retail Operations - CRP2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797</Words>
  <Application>Microsoft Office PowerPoint</Application>
  <PresentationFormat>Widescreen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Bodoni MT Black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Afry Nizam</cp:lastModifiedBy>
  <cp:revision>21</cp:revision>
  <dcterms:created xsi:type="dcterms:W3CDTF">2026-09-20T07:38:36Z</dcterms:created>
  <dcterms:modified xsi:type="dcterms:W3CDTF">2026-10-16T11:32:11Z</dcterms:modified>
</cp:coreProperties>
</file>